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28016" cy="12801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4F8ECD"/>
                </a:solidFill>
                <a:latin typeface="Segoe UI"/>
              </a:rPr>
              <a:t>EXPERIMENTELLE STUDIE · AUTONOME SPIELSTEUERUNG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6600" b="1" i="0">
                <a:solidFill>
                  <a:srgbClr val="2E6DB4"/>
                </a:solidFill>
                <a:latin typeface="Georgia"/>
              </a:rPr>
              <a:t>DINO KI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</a:pPr>
            <a:r>
              <a:rPr sz="2000" b="0" i="0">
                <a:solidFill>
                  <a:srgbClr val="33475F"/>
                </a:solidFill>
                <a:latin typeface="Segoe UI"/>
              </a:rPr>
              <a:t>Wie ein neuronales Netzwerk lernt, das Google-Dino-Spiel selbstständig zu spielen.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B7A90"/>
                </a:solidFill>
                <a:latin typeface="Segoe UI"/>
              </a:rPr>
              <a:t>Neuroevolution (NEAT) · Python 3.14 · Pygame · Manim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035040"/>
            <a:ext cx="11183112" cy="14630"/>
          </a:xfrm>
          <a:prstGeom prst="rect">
            <a:avLst/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172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B7A90"/>
                </a:solidFill>
                <a:latin typeface="Segoe UI"/>
              </a:rPr>
              <a:t>Name · Klasse · Datum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09728" cy="1097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4F8ECD"/>
                </a:solidFill>
                <a:latin typeface="Segoe UI"/>
              </a:rPr>
              <a:t>01 · DIE IDEE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E6DB4"/>
                </a:solidFill>
                <a:latin typeface="Georgia"/>
              </a:rPr>
              <a:t>Kann ein Netzwerk ein Spiel von selbst lernen?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3112" cy="14630"/>
          </a:xfrm>
          <a:prstGeom prst="rect">
            <a:avLst/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DINO KI  ·  Neuronales Netzwerk spielt Google Dino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F8ECD"/>
                </a:solidFill>
                <a:latin typeface="Segoe U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03120"/>
            <a:ext cx="3429000" cy="283464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DC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2880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1" i="0">
                <a:solidFill>
                  <a:srgbClr val="2E6DB4"/>
                </a:solidFill>
                <a:latin typeface="Georgia"/>
              </a:rPr>
              <a:t>PROBLEM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475F"/>
                </a:solidFill>
                <a:latin typeface="Segoe UI"/>
              </a:rPr>
              <a:t>Ein Spiel zu spielen heißt: Reize erkennen und in Millisekunden richtig reagieren – Springen oder Ducken?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200400"/>
            <a:ext cx="502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F8ECD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43983" y="2103120"/>
            <a:ext cx="3429000" cy="283464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DC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377440"/>
            <a:ext cx="2880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1" i="0">
                <a:solidFill>
                  <a:srgbClr val="2E6DB4"/>
                </a:solidFill>
                <a:latin typeface="Georgia"/>
              </a:rPr>
              <a:t>IDEE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475F"/>
                </a:solidFill>
                <a:latin typeface="Segoe UI"/>
              </a:rPr>
              <a:t>Ein neuronales Netzwerk soll diese Entscheidungen ganz allein lernen – ohne Regeln, die ein Mensch vorgibt.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2983" y="3200400"/>
            <a:ext cx="502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F8ECD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5047" y="2103120"/>
            <a:ext cx="3429000" cy="283464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DC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59367" y="2377440"/>
            <a:ext cx="2880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1" i="0">
                <a:solidFill>
                  <a:srgbClr val="2E6DB4"/>
                </a:solidFill>
                <a:latin typeface="Georgia"/>
              </a:rPr>
              <a:t>ZIEL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475F"/>
                </a:solidFill>
                <a:latin typeface="Segoe UI"/>
              </a:rPr>
              <a:t>Das Netz überlebt Hindernisse, sammelt Punkte und wird von Generation zu Generation besser.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349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6B7A90"/>
                </a:solidFill>
                <a:latin typeface="Segoe UI"/>
              </a:rPr>
              <a:t>Lernen durch Evolution statt durch Backpropagation: 50 Netze spielen parallel – die besten überleben und mutieren. Keine menschlichen Regeln nötig.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09728" cy="1097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4F8ECD"/>
                </a:solidFill>
                <a:latin typeface="Segoe UI"/>
              </a:rPr>
              <a:t>02 · WIE DAS SPIEL FUNKTIONIERT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E6DB4"/>
                </a:solidFill>
                <a:latin typeface="Georgia"/>
              </a:rPr>
              <a:t>Laufen, Springen, Ducken – ganz ohne Spieler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3112" cy="14630"/>
          </a:xfrm>
          <a:prstGeom prst="rect">
            <a:avLst/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DINO KI  ·  Neuronales Netzwerk spielt Google Dino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F8ECD"/>
                </a:solidFill>
                <a:latin typeface="Segoe U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DC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315468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2E6DB4"/>
                </a:solidFill>
                <a:latin typeface="Georgia"/>
              </a:rPr>
              <a:t>LAUFEN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75F"/>
                </a:solidFill>
                <a:latin typeface="Segoe UI"/>
              </a:rPr>
              <a:t>Der Dino läuft automatisch. Von rechts kommen die Hindernisse immer näher.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196596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DC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2194560"/>
            <a:ext cx="315468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2E6DB4"/>
                </a:solidFill>
                <a:latin typeface="Georgia"/>
              </a:rPr>
              <a:t>SPRINGEN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75F"/>
                </a:solidFill>
                <a:latin typeface="Segoe UI"/>
              </a:rPr>
              <a:t>Ist ein Hindernis in Bodennähe, setzt das Netz auf „SPRUNG“ – der Dino springt darüber.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3" y="196596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DC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3" y="2194560"/>
            <a:ext cx="315468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2E6DB4"/>
                </a:solidFill>
                <a:latin typeface="Georgia"/>
              </a:rPr>
              <a:t>DUCKEN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75F"/>
                </a:solidFill>
                <a:latin typeface="Segoe UI"/>
              </a:rPr>
              <a:t>Fliegt ein Vogel in Kopfhöhe, duckt sich der Dino und der Vogel segelt darüber hinweg.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84831" y="4343400"/>
            <a:ext cx="3657600" cy="169164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DC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13432" y="4572000"/>
            <a:ext cx="3200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E6DB4"/>
                </a:solidFill>
                <a:latin typeface="Georgia"/>
              </a:rPr>
              <a:t>PUNKTE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75F"/>
                </a:solidFill>
                <a:latin typeface="Segoe UI"/>
              </a:rPr>
              <a:t>+ 0.25 Punkte pro überlebtem Frame. Mit der Zeit wird das Spiel schneller.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1" y="4343400"/>
            <a:ext cx="3657600" cy="169164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DC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4572000"/>
            <a:ext cx="3200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E6DB4"/>
                </a:solidFill>
                <a:latin typeface="Georgia"/>
              </a:rPr>
              <a:t>ENDE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75F"/>
                </a:solidFill>
                <a:latin typeface="Segoe UI"/>
              </a:rPr>
              <a:t>Eine Kollision mit Kaktus oder Vogel beendet den Versuchsohr-Lauf sofort.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1722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6B7A90"/>
                </a:solidFill>
                <a:latin typeface="Segoe UI"/>
              </a:rPr>
              <a:t>Das Netz sieht nur die 6 Zahlen (Sensoren) – nicht das Bild.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09728" cy="1097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4F8ECD"/>
                </a:solidFill>
                <a:latin typeface="Segoe UI"/>
              </a:rPr>
              <a:t>03 · EINGABEDATEN DES NETZES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E6DB4"/>
                </a:solidFill>
                <a:latin typeface="Georgia"/>
              </a:rPr>
              <a:t>Sechs Sensoren pro Frame – normalisiert auf 0 …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3112" cy="14630"/>
          </a:xfrm>
          <a:prstGeom prst="rect">
            <a:avLst/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DINO KI  ·  Neuronales Netzwerk spielt Google Dino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F8ECD"/>
                </a:solidFill>
                <a:latin typeface="Segoe UI"/>
              </a:rPr>
              <a:t>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783080"/>
          <a:ext cx="6949440" cy="4206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02920"/>
                <a:gridCol w="1417320"/>
                <a:gridCol w="2148840"/>
                <a:gridCol w="2880360"/>
              </a:tblGrid>
              <a:tr h="600891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Neuron</a:t>
                      </a:r>
                    </a:p>
                  </a:txBody>
                  <a:tcPr marL="54864" marR="54864" marT="27432" marB="27432" anchor="ctr"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Berechnung</a:t>
                      </a:r>
                    </a:p>
                  </a:txBody>
                  <a:tcPr marL="54864" marR="54864" marT="27432" marB="27432" anchor="ctr"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Bedeutung</a:t>
                      </a:r>
                    </a:p>
                  </a:txBody>
                  <a:tcPr marL="54864" marR="54864" marT="27432" marB="27432" anchor="ctr">
                    <a:solidFill>
                      <a:srgbClr val="2E6DB4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F8ECD"/>
                          </a:solidFill>
                          <a:latin typeface="Segoe UI"/>
                        </a:rPr>
                        <a:t>i1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75F"/>
                          </a:solidFill>
                          <a:latin typeface="Segoe UI"/>
                        </a:rPr>
                        <a:t>ABSTAND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75F"/>
                          </a:solidFill>
                          <a:latin typeface="Segoe UI"/>
                        </a:rPr>
                        <a:t>Distanz ÷ Fensterbreite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75F"/>
                          </a:solidFill>
                          <a:latin typeface="Segoe UI"/>
                        </a:rPr>
                        <a:t>Wie weit ist das Hindernis?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F8ECD"/>
                          </a:solidFill>
                          <a:latin typeface="Segoe UI"/>
                        </a:rPr>
                        <a:t>i2</a:t>
                      </a:r>
                    </a:p>
                  </a:txBody>
                  <a:tcPr marL="54864" marR="54864" marT="27432" marB="27432" anchor="ctr">
                    <a:solidFill>
                      <a:srgbClr val="EAF3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75F"/>
                          </a:solidFill>
                          <a:latin typeface="Segoe UI"/>
                        </a:rPr>
                        <a:t>BREITE</a:t>
                      </a:r>
                    </a:p>
                  </a:txBody>
                  <a:tcPr marL="54864" marR="54864" marT="27432" marB="27432" anchor="ctr">
                    <a:solidFill>
                      <a:srgbClr val="EAF3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75F"/>
                          </a:solidFill>
                          <a:latin typeface="Segoe UI"/>
                        </a:rPr>
                        <a:t>Breite ÷ 100</a:t>
                      </a:r>
                    </a:p>
                  </a:txBody>
                  <a:tcPr marL="54864" marR="54864" marT="27432" marB="27432" anchor="ctr">
                    <a:solidFill>
                      <a:srgbClr val="EAF3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75F"/>
                          </a:solidFill>
                          <a:latin typeface="Segoe UI"/>
                        </a:rPr>
                        <a:t>Wie breit ist es?</a:t>
                      </a:r>
                    </a:p>
                  </a:txBody>
                  <a:tcPr marL="54864" marR="54864" marT="27432" marB="27432" anchor="ctr">
                    <a:solidFill>
                      <a:srgbClr val="EAF3FC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F8ECD"/>
                          </a:solidFill>
                          <a:latin typeface="Segoe UI"/>
                        </a:rPr>
                        <a:t>i3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75F"/>
                          </a:solidFill>
                          <a:latin typeface="Segoe UI"/>
                        </a:rPr>
                        <a:t>HÖHE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75F"/>
                          </a:solidFill>
                          <a:latin typeface="Segoe UI"/>
                        </a:rPr>
                        <a:t>Höhe ÷ 100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75F"/>
                          </a:solidFill>
                          <a:latin typeface="Segoe UI"/>
                        </a:rPr>
                        <a:t>Wie hoch ist es?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F8ECD"/>
                          </a:solidFill>
                          <a:latin typeface="Segoe UI"/>
                        </a:rPr>
                        <a:t>i4</a:t>
                      </a:r>
                    </a:p>
                  </a:txBody>
                  <a:tcPr marL="54864" marR="54864" marT="27432" marB="27432" anchor="ctr">
                    <a:solidFill>
                      <a:srgbClr val="EAF3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75F"/>
                          </a:solidFill>
                          <a:latin typeface="Segoe UI"/>
                        </a:rPr>
                        <a:t>Y-POSITION</a:t>
                      </a:r>
                    </a:p>
                  </a:txBody>
                  <a:tcPr marL="54864" marR="54864" marT="27432" marB="27432" anchor="ctr">
                    <a:solidFill>
                      <a:srgbClr val="EAF3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75F"/>
                          </a:solidFill>
                          <a:latin typeface="Segoe UI"/>
                        </a:rPr>
                        <a:t>y ÷ Fensterhöhe</a:t>
                      </a:r>
                    </a:p>
                  </a:txBody>
                  <a:tcPr marL="54864" marR="54864" marT="27432" marB="27432" anchor="ctr">
                    <a:solidFill>
                      <a:srgbClr val="EAF3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75F"/>
                          </a:solidFill>
                          <a:latin typeface="Segoe UI"/>
                        </a:rPr>
                        <a:t>Ist der Dino in der Luft?</a:t>
                      </a:r>
                    </a:p>
                  </a:txBody>
                  <a:tcPr marL="54864" marR="54864" marT="27432" marB="27432" anchor="ctr">
                    <a:solidFill>
                      <a:srgbClr val="EAF3FC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F8ECD"/>
                          </a:solidFill>
                          <a:latin typeface="Segoe UI"/>
                        </a:rPr>
                        <a:t>i5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75F"/>
                          </a:solidFill>
                          <a:latin typeface="Segoe UI"/>
                        </a:rPr>
                        <a:t>TEMPO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75F"/>
                          </a:solidFill>
                          <a:latin typeface="Segoe UI"/>
                        </a:rPr>
                        <a:t>Geschwindigkeit ÷ 50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75F"/>
                          </a:solidFill>
                          <a:latin typeface="Segoe UI"/>
                        </a:rPr>
                        <a:t>Wie schnell ist die Welt?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F8ECD"/>
                          </a:solidFill>
                          <a:latin typeface="Segoe UI"/>
                        </a:rPr>
                        <a:t>i6</a:t>
                      </a:r>
                    </a:p>
                  </a:txBody>
                  <a:tcPr marL="54864" marR="54864" marT="27432" marB="27432" anchor="ctr">
                    <a:solidFill>
                      <a:srgbClr val="EAF3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75F"/>
                          </a:solidFill>
                          <a:latin typeface="Segoe UI"/>
                        </a:rPr>
                        <a:t>VOGEL</a:t>
                      </a:r>
                    </a:p>
                  </a:txBody>
                  <a:tcPr marL="54864" marR="54864" marT="27432" marB="27432" anchor="ctr">
                    <a:solidFill>
                      <a:srgbClr val="EAF3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75F"/>
                          </a:solidFill>
                          <a:latin typeface="Segoe UI"/>
                        </a:rPr>
                        <a:t>1 = Vogel · 0 = sonst</a:t>
                      </a:r>
                    </a:p>
                  </a:txBody>
                  <a:tcPr marL="54864" marR="54864" marT="27432" marB="27432" anchor="ctr">
                    <a:solidFill>
                      <a:srgbClr val="EAF3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75F"/>
                          </a:solidFill>
                          <a:latin typeface="Segoe UI"/>
                        </a:rPr>
                        <a:t>Fliegt ein Vogel an?</a:t>
                      </a:r>
                    </a:p>
                  </a:txBody>
                  <a:tcPr marL="54864" marR="54864" marT="27432" marB="27432" anchor="ctr">
                    <a:solidFill>
                      <a:srgbClr val="EAF3F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72400" y="1783080"/>
            <a:ext cx="3886200" cy="228600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DC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96596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E6DB4"/>
                </a:solidFill>
                <a:latin typeface="Georgia"/>
              </a:rPr>
              <a:t>Eingabe-Vektor</a:t>
            </a:r>
          </a:p>
        </p:txBody>
      </p:sp>
      <p:pic>
        <p:nvPicPr>
          <p:cNvPr id="12" name="Picture 11" descr="xv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606705"/>
            <a:ext cx="3520440" cy="4101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46720" y="3154680"/>
            <a:ext cx="3383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x = Eingabe · T = Transponieren · ℝ⁶ = 6 reelle Zahlen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4251960"/>
            <a:ext cx="3886200" cy="173736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DC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440740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E6DB4"/>
                </a:solidFill>
                <a:latin typeface="Georgia"/>
              </a:rPr>
              <a:t>Ausgabe des Netzes</a:t>
            </a:r>
          </a:p>
        </p:txBody>
      </p:sp>
      <p:pic>
        <p:nvPicPr>
          <p:cNvPr id="16" name="Picture 15" descr="yv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958" y="4892040"/>
            <a:ext cx="2532522" cy="5486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46720" y="544068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3475F"/>
                </a:solidFill>
                <a:latin typeface="Segoe UI"/>
              </a:rPr>
              <a:t>y₁ = SPRUNG · y₂ = DUCKEN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09728" cy="1097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4F8ECD"/>
                </a:solidFill>
                <a:latin typeface="Segoe UI"/>
              </a:rPr>
              <a:t>04 · DAS NEURONALE NETZWERK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E6DB4"/>
                </a:solidFill>
                <a:latin typeface="Georgia"/>
              </a:rPr>
              <a:t>6 Eingaben → 6 versteckte Neuronen → 2 Ausgaben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3112" cy="14630"/>
          </a:xfrm>
          <a:prstGeom prst="rect">
            <a:avLst/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DINO KI  ·  Neuronales Netzwerk spielt Google Dino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F8ECD"/>
                </a:solidFill>
                <a:latin typeface="Segoe UI"/>
              </a:rPr>
              <a:t>5</a:t>
            </a:r>
          </a:p>
        </p:txBody>
      </p:sp>
      <p:pic>
        <p:nvPicPr>
          <p:cNvPr id="9" name="Picture 8" descr="netzwerk_weiss_bla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783" y="1783080"/>
            <a:ext cx="6101713" cy="4069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94360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Blau = positives Gewicht  ·  Orange = negatives Gewicht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783080"/>
            <a:ext cx="3886200" cy="96012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DC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947672"/>
            <a:ext cx="1463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2E6DB4"/>
                </a:solidFill>
                <a:latin typeface="Georgia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2057400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3475F"/>
                </a:solidFill>
                <a:latin typeface="Segoe UI"/>
              </a:rPr>
              <a:t>Eingabe-Neuronen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2852928"/>
            <a:ext cx="3886200" cy="96012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DC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3017520"/>
            <a:ext cx="1463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2E6DB4"/>
                </a:solidFill>
                <a:latin typeface="Georgia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3127248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3475F"/>
                </a:solidFill>
                <a:latin typeface="Segoe UI"/>
              </a:rPr>
              <a:t>Hidden-Neuronen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3922776"/>
            <a:ext cx="3886200" cy="96012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DC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4087368"/>
            <a:ext cx="1463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2E6DB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4197096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3475F"/>
                </a:solidFill>
                <a:latin typeface="Segoe UI"/>
              </a:rPr>
              <a:t>Ausgabe-Neuronen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4992624"/>
            <a:ext cx="3886200" cy="96012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DC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5157216"/>
            <a:ext cx="1463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2E6DB4"/>
                </a:solidFill>
                <a:latin typeface="Georgia"/>
              </a:rPr>
              <a:t>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5266944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3475F"/>
                </a:solidFill>
                <a:latin typeface="Segoe UI"/>
              </a:rPr>
              <a:t>Verbindungen (Start)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6108192"/>
            <a:ext cx="3886200" cy="77724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DC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6190488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3475F"/>
                </a:solidFill>
                <a:latin typeface="Segoe UI"/>
              </a:rPr>
              <a:t>tanh-Aktivierung · Feed-Forward · die Topologie wächst mit jeder Generation.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09728" cy="1097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4F8ECD"/>
                </a:solidFill>
                <a:latin typeface="Segoe UI"/>
              </a:rPr>
              <a:t>05 · FORMEL 1 – DIE GEWICHTETE SUMME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E6DB4"/>
                </a:solidFill>
                <a:latin typeface="Georgia"/>
              </a:rPr>
              <a:t>Was passiert im Inneren eines Neurons?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3112" cy="14630"/>
          </a:xfrm>
          <a:prstGeom prst="rect">
            <a:avLst/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DINO KI  ·  Neuronales Netzwerk spielt Google Dino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F8ECD"/>
                </a:solidFill>
                <a:latin typeface="Segoe U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11155680" cy="137160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96C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zs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7503" y="2011680"/>
            <a:ext cx="2449392" cy="9144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3383280"/>
            <a:ext cx="5486400" cy="274320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DC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566160"/>
            <a:ext cx="49377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6DB4"/>
                </a:solidFill>
                <a:latin typeface="Georgia"/>
              </a:rPr>
              <a:t>So liest man sie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33475F"/>
                </a:solidFill>
                <a:latin typeface="Segoe UI"/>
              </a:rPr>
              <a:t>„z-j ist gleich die Summe über i von eins bis n: w-ji mal x-i, plus b-j.“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75F"/>
                </a:solidFill>
                <a:latin typeface="Segoe UI"/>
              </a:rPr>
              <a:t>Jedes Gewicht w multipliziert seinen Eingang x – alle Produkte werden addiert (= Summe ∑), dann kommt der Bias b dazu.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383280"/>
            <a:ext cx="5394960" cy="274320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DC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566160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6DB4"/>
                </a:solidFill>
                <a:latin typeface="Georgia"/>
              </a:rPr>
              <a:t>Welche Bedeutung haben die Symbole?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75F"/>
                </a:solidFill>
                <a:latin typeface="Segoe UI"/>
              </a:rPr>
              <a:t>•  z = Roh-Wert (Aktivierung vor dem Zusammenpressen)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75F"/>
                </a:solidFill>
                <a:latin typeface="Segoe UI"/>
              </a:rPr>
              <a:t>•  w = Gewicht (Stärke der Verbindung)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75F"/>
                </a:solidFill>
                <a:latin typeface="Segoe UI"/>
              </a:rPr>
              <a:t>•  x = Eingabe (Sensoren-Wert, 0 … 1)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75F"/>
                </a:solidFill>
                <a:latin typeface="Segoe UI"/>
              </a:rPr>
              <a:t>•  b = Bias (Schwellwert, verschiebt das Resultat)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75F"/>
                </a:solidFill>
                <a:latin typeface="Segoe UI"/>
              </a:rPr>
              <a:t>•  ∑ = Summenzeichen („zähle alles zusammen“)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6B7A90"/>
                </a:solidFill>
                <a:latin typeface="Segoe UI"/>
              </a:rPr>
              <a:t>Kurzform für ein Neuron mit 3 Eingängen:</a:t>
            </a:r>
          </a:p>
        </p:txBody>
      </p:sp>
      <p:pic>
        <p:nvPicPr>
          <p:cNvPr id="16" name="Picture 15" descr="zbeispi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218" y="6172200"/>
            <a:ext cx="4275002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09728" cy="1097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4F8ECD"/>
                </a:solidFill>
                <a:latin typeface="Segoe UI"/>
              </a:rPr>
              <a:t>06 · FORMEL 2 – DIE AKTIVIERUNG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E6DB4"/>
                </a:solidFill>
                <a:latin typeface="Georgia"/>
              </a:rPr>
              <a:t>Aus einer beliebigen Zahl wird ein nutzbares Signal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3112" cy="14630"/>
          </a:xfrm>
          <a:prstGeom prst="rect">
            <a:avLst/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DINO KI  ·  Neuronales Netzwerk spielt Google Dino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F8ECD"/>
                </a:solidFill>
                <a:latin typeface="Segoe UI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11155680" cy="123444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96C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624" y="1965960"/>
            <a:ext cx="2179631" cy="731520"/>
          </a:xfrm>
          <a:prstGeom prst="rect">
            <a:avLst/>
          </a:prstGeom>
        </p:spPr>
      </p:pic>
      <p:pic>
        <p:nvPicPr>
          <p:cNvPr id="11" name="Picture 10" descr="tan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141" y="1920240"/>
            <a:ext cx="5404757" cy="914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02920" y="3246120"/>
            <a:ext cx="5486400" cy="292608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DC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429000"/>
            <a:ext cx="49377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6DB4"/>
                </a:solidFill>
                <a:latin typeface="Georgia"/>
              </a:rPr>
              <a:t>So liest man sie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33475F"/>
                </a:solidFill>
                <a:latin typeface="Segoe UI"/>
              </a:rPr>
              <a:t>„a-j ist gleich f von z-j.“ – Die Funktion f (tanh) nimmt den Wert z und drückt ihn in den Bereich von −1 bis +1.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75F"/>
                </a:solidFill>
                <a:latin typeface="Segoe UI"/>
              </a:rPr>
              <a:t>Beispiel: tanh(1.52) ≈ 0.91 → das Signal „leuchtet“ stark. tanh(0) = 0 → neutral.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246120"/>
            <a:ext cx="5394960" cy="292608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DC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429000"/>
            <a:ext cx="484632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6DB4"/>
                </a:solidFill>
                <a:latin typeface="Georgia"/>
              </a:rPr>
              <a:t>Warum tanh? Und welche Alternativen gibt es?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33475F"/>
                </a:solidFill>
                <a:latin typeface="Segoe UI"/>
              </a:rPr>
              <a:t>tanh liefert Werte um 0 – ideal, um klar zwischen „keine Aktion“ (≈ 0) und „Aktion“ (stark positiv/negativ) zu unterscheiden.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3475F"/>
                </a:solidFill>
                <a:latin typeface="Segoe UI"/>
              </a:rPr>
              <a:t>Alternativen:</a:t>
            </a:r>
          </a:p>
        </p:txBody>
      </p:sp>
      <p:pic>
        <p:nvPicPr>
          <p:cNvPr id="16" name="Picture 15" descr="sigmo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9939" y="4754880"/>
            <a:ext cx="1413480" cy="457200"/>
          </a:xfrm>
          <a:prstGeom prst="rect">
            <a:avLst/>
          </a:prstGeom>
        </p:spPr>
      </p:pic>
      <p:pic>
        <p:nvPicPr>
          <p:cNvPr id="17" name="Picture 16" descr="rel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2377" y="4754880"/>
            <a:ext cx="2043485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37960" y="534924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Sigmoid → 0 … 1 · ReLU → 0 oder größer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09728" cy="1097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4F8ECD"/>
                </a:solidFill>
                <a:latin typeface="Segoe UI"/>
              </a:rPr>
              <a:t>07 · FORMEL 3 – AUSGABE &amp; ENTSCHEIDUNG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E6DB4"/>
                </a:solidFill>
                <a:latin typeface="Georgia"/>
              </a:rPr>
              <a:t>Von y zur Aktion im Spiel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3112" cy="14630"/>
          </a:xfrm>
          <a:prstGeom prst="rect">
            <a:avLst/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DINO KI  ·  Neuronales Netzwerk spielt Google Dino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F8ECD"/>
                </a:solidFill>
                <a:latin typeface="Segoe UI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11155680" cy="114300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96C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413" y="1938528"/>
            <a:ext cx="10507572" cy="777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3154680"/>
            <a:ext cx="5486400" cy="297180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DC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337560"/>
            <a:ext cx="49377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6DB4"/>
                </a:solidFill>
                <a:latin typeface="Georgia"/>
              </a:rPr>
              <a:t>So liest man sie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33475F"/>
                </a:solidFill>
                <a:latin typeface="Segoe UI"/>
              </a:rPr>
              <a:t>„Ist y-eins größer als 0.5, dann SPRUNG; ist y-zwei größer als 0.5, dann DUCKEN.“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75F"/>
                </a:solidFill>
                <a:latin typeface="Segoe UI"/>
              </a:rPr>
              <a:t>Der Schwellwert 0.5 filtert schwache Signale heraus. y₁ und y₂ sind die tanh-Ausgaben der zwei letzten Neuronen.</a:t>
            </a:r>
          </a:p>
        </p:txBody>
      </p:sp>
      <p:pic>
        <p:nvPicPr>
          <p:cNvPr id="13" name="Picture 12" descr="z_re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264920"/>
            <a:ext cx="4846320" cy="397239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263640" y="3154680"/>
            <a:ext cx="5394960" cy="297180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9050">
            <a:solidFill>
              <a:srgbClr val="96C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337560"/>
            <a:ext cx="484632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6DB4"/>
                </a:solidFill>
                <a:latin typeface="Georgia"/>
              </a:rPr>
              <a:t>Rechenbeispiel – von der Zahl zum Sprung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75F"/>
                </a:solidFill>
                <a:latin typeface="Segoe UI"/>
              </a:rPr>
              <a:t>Aus den Sensoren und Gewichten entsteht z = 1.52.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E89E60"/>
                </a:solidFill>
                <a:latin typeface="Georgia"/>
              </a:rPr>
              <a:t>→  0.91 &gt; 0.5  ⇒  SPRUNG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6B7A90"/>
                </a:solidFill>
                <a:latin typeface="Segoe UI"/>
              </a:rPr>
              <a:t>Der Dino springt und überwindet den Kaktus.</a:t>
            </a:r>
          </a:p>
        </p:txBody>
      </p:sp>
      <p:pic>
        <p:nvPicPr>
          <p:cNvPr id="16" name="Picture 15" descr="tanh_re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7211" y="4343400"/>
            <a:ext cx="3327816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09728" cy="1097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4F8ECD"/>
                </a:solidFill>
                <a:latin typeface="Segoe UI"/>
              </a:rPr>
              <a:t>08 · FORMEL 4 – DIE FITNESS-FUNKTION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E6DB4"/>
                </a:solidFill>
                <a:latin typeface="Georgia"/>
              </a:rPr>
              <a:t>So bewertet die Evolution jedes Netz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3112" cy="14630"/>
          </a:xfrm>
          <a:prstGeom prst="rect">
            <a:avLst/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DINO KI  ·  Neuronales Netzwerk spielt Google Dino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F8ECD"/>
                </a:solidFill>
                <a:latin typeface="Segoe UI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96C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43090"/>
            <a:ext cx="10515600" cy="76811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3108960"/>
            <a:ext cx="5486400" cy="301752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DC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91840"/>
            <a:ext cx="49377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6DB4"/>
                </a:solidFill>
                <a:latin typeface="Georgia"/>
              </a:rPr>
              <a:t>So liest man sie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33475F"/>
                </a:solidFill>
                <a:latin typeface="Segoe UI"/>
              </a:rPr>
              <a:t>„F ist 0.1 mal die Anzahl Frames minus 0.02 mal die Anzahl Ducks minus 1 mal die Anzahl Kollisionen.“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75F"/>
                </a:solidFill>
                <a:latin typeface="Segoe UI"/>
              </a:rPr>
              <a:t>Frames = überlebte Schritte (Belohnung), Ducks = Ducken ohne Vogel (Strafe), Kollisionen = Aufprall (Ende).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108960"/>
            <a:ext cx="5394960" cy="301752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DC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291840"/>
            <a:ext cx="48463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6DB4"/>
                </a:solidFill>
                <a:latin typeface="Georgia"/>
              </a:rPr>
              <a:t>Rechenbeispiel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75F"/>
                </a:solidFill>
                <a:latin typeface="Segoe UI"/>
              </a:rPr>
              <a:t>800 Frames überlebt, 20 mal geduckt, keine Kollision: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75F"/>
                </a:solidFill>
                <a:latin typeface="Segoe UI"/>
              </a:rPr>
              <a:t>→  Je länger überlebt, desto höher die Fitness = „wie gut ist dieses Netz?“</a:t>
            </a:r>
          </a:p>
        </p:txBody>
      </p:sp>
      <p:pic>
        <p:nvPicPr>
          <p:cNvPr id="15" name="Picture 14" descr="fit_re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4371921"/>
            <a:ext cx="4846320" cy="49159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6217920"/>
            <a:ext cx="361188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6C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629107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6DB4"/>
                </a:solidFill>
                <a:latin typeface="Segoe UI"/>
              </a:rPr>
              <a:t>+ 0.1 / Frame   ·   Überleben lohnt sich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79392" y="6217920"/>
            <a:ext cx="361188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6C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2272" y="629107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6DB4"/>
                </a:solidFill>
                <a:latin typeface="Segoe UI"/>
              </a:rPr>
              <a:t>− 0.02 / Duck   ·   Verhindert Dauerducken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55863" y="6217920"/>
            <a:ext cx="361188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6C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3" y="629107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6DB4"/>
                </a:solidFill>
                <a:latin typeface="Segoe UI"/>
              </a:rPr>
              <a:t>− 1 / Kollision   ·   Ende des Versuchs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09728" cy="1097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4F8ECD"/>
                </a:solidFill>
                <a:latin typeface="Segoe UI"/>
              </a:rPr>
              <a:t>09 · FORMEL 5 – DIE MUTATION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E6DB4"/>
                </a:solidFill>
                <a:latin typeface="Georgia"/>
              </a:rPr>
              <a:t>Kleine Zufalls-Veränderungen an den Gewichten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3112" cy="14630"/>
          </a:xfrm>
          <a:prstGeom prst="rect">
            <a:avLst/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DINO KI  ·  Neuronales Netzwerk spielt Google Dino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F8ECD"/>
                </a:solidFill>
                <a:latin typeface="Segoe U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11155680" cy="137160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96C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u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2011680"/>
            <a:ext cx="7680960" cy="9601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3383280"/>
            <a:ext cx="5486400" cy="274320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DC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566160"/>
            <a:ext cx="49377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6DB4"/>
                </a:solidFill>
                <a:latin typeface="Georgia"/>
              </a:rPr>
              <a:t>So liest man sie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33475F"/>
                </a:solidFill>
                <a:latin typeface="Segoe UI"/>
              </a:rPr>
              <a:t>„w-Strich ist w plus Epsilon, wobei Epsilon aus der Normalverteilung N mit Mittelwert 0 und Varianz σ² gezogen wird.“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75F"/>
                </a:solidFill>
                <a:latin typeface="Segoe UI"/>
              </a:rPr>
              <a:t>Das neue Gewicht w′ = altes Gewicht + kleiner Zufalls-Wert ε. So entsteht aus jedem Gewicht ein neues, ähnliches Gewicht.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383280"/>
            <a:ext cx="5394960" cy="274320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DC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566160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6DB4"/>
                </a:solidFill>
                <a:latin typeface="Georgia"/>
              </a:rPr>
              <a:t>Rechenbeispiel &amp; Bedeutung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75F"/>
                </a:solidFill>
                <a:latin typeface="Segoe UI"/>
              </a:rPr>
              <a:t>Altes Gewicht w = 0.5, Zufalls-Wert ε = 0.14: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475F"/>
                </a:solidFill>
                <a:latin typeface="Segoe UI"/>
              </a:rPr>
              <a:t>•  ε klein (σ = 0.5) → wenig Zerstörung von gutem Wissen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3475F"/>
                </a:solidFill>
                <a:latin typeface="Segoe UI"/>
              </a:rPr>
              <a:t>•  Nur die besten Netze mutieren (mit Elitismus)</a:t>
            </a:r>
          </a:p>
        </p:txBody>
      </p:sp>
      <p:pic>
        <p:nvPicPr>
          <p:cNvPr id="15" name="Picture 14" descr="mut_re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061" y="4389120"/>
            <a:ext cx="333011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09728" cy="1097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4F8ECD"/>
                </a:solidFill>
                <a:latin typeface="Segoe UI"/>
              </a:rPr>
              <a:t>10 · TRAINING – DER EVOLUTIONSZYKLUS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E6DB4"/>
                </a:solidFill>
                <a:latin typeface="Georgia"/>
              </a:rPr>
              <a:t>NEAT: Netze spielen, die besten überleben und mutieren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3112" cy="14630"/>
          </a:xfrm>
          <a:prstGeom prst="rect">
            <a:avLst/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DINO KI  ·  Neuronales Netzwerk spielt Google Dino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F8ECD"/>
                </a:solidFill>
                <a:latin typeface="Segoe U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2514600" cy="155448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96C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2148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2E6DB4"/>
                </a:solidFill>
                <a:latin typeface="Georgia"/>
              </a:rPr>
              <a:t>POPULATION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3475F"/>
                </a:solidFill>
                <a:latin typeface="Segoe UI"/>
              </a:rPr>
              <a:t>50 Netze starten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4952" y="2377440"/>
            <a:ext cx="2926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4F8ECD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965960"/>
            <a:ext cx="2514600" cy="155448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96C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38728" y="2194560"/>
            <a:ext cx="2148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2E6DB4"/>
                </a:solidFill>
                <a:latin typeface="Georgia"/>
              </a:rPr>
              <a:t>SPIELEN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3475F"/>
                </a:solidFill>
                <a:latin typeface="Segoe UI"/>
              </a:rPr>
              <a:t>alle laufen parallel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79" y="2377440"/>
            <a:ext cx="2926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4F8ECD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965960"/>
            <a:ext cx="2514600" cy="155448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96C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6" y="2194560"/>
            <a:ext cx="2148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2E6DB4"/>
                </a:solidFill>
                <a:latin typeface="Georgia"/>
              </a:rPr>
              <a:t>FITNESS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3475F"/>
                </a:solidFill>
                <a:latin typeface="Segoe UI"/>
              </a:rPr>
              <a:t>Formel 4 bewertet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0808" y="2377440"/>
            <a:ext cx="2926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4F8ECD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1704" y="1965960"/>
            <a:ext cx="2514600" cy="155448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96C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44584" y="2194560"/>
            <a:ext cx="2148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2E6DB4"/>
                </a:solidFill>
                <a:latin typeface="Georgia"/>
              </a:rPr>
              <a:t>MUTATION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3475F"/>
                </a:solidFill>
                <a:latin typeface="Segoe UI"/>
              </a:rPr>
              <a:t>Formel 5 verändert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749039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475F"/>
                </a:solidFill>
                <a:latin typeface="Segoe UI"/>
              </a:rPr>
              <a:t>Runde für Runde wiederholt sich der Zyklus – nach jeder Generation wird die nächste besser.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343400"/>
            <a:ext cx="2514600" cy="105156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DC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480560"/>
            <a:ext cx="1005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2E6DB4"/>
                </a:solidFill>
                <a:latin typeface="Georgia"/>
              </a:rPr>
              <a:t>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599432"/>
            <a:ext cx="1234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33475F"/>
                </a:solidFill>
                <a:latin typeface="Segoe UI"/>
              </a:rPr>
              <a:t>Individuen pro Population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55848" y="4343400"/>
            <a:ext cx="2514600" cy="105156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DC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38728" y="4480560"/>
            <a:ext cx="1005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2E6DB4"/>
                </a:solidFill>
                <a:latin typeface="Georgia"/>
              </a:rPr>
              <a:t>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848" y="4599432"/>
            <a:ext cx="1234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33475F"/>
                </a:solidFill>
                <a:latin typeface="Segoe UI"/>
              </a:rPr>
              <a:t>Generationen im Training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8776" y="4343400"/>
            <a:ext cx="2514600" cy="105156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DC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91656" y="4480560"/>
            <a:ext cx="1005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2E6DB4"/>
                </a:solidFill>
                <a:latin typeface="Georgia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1775" y="4599432"/>
            <a:ext cx="1234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33475F"/>
                </a:solidFill>
                <a:latin typeface="Segoe UI"/>
              </a:rPr>
              <a:t>Elite-Netze bleiben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61704" y="4343400"/>
            <a:ext cx="2514600" cy="105156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DC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44584" y="4480560"/>
            <a:ext cx="1005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2E6DB4"/>
                </a:solidFill>
                <a:latin typeface="Georgia"/>
              </a:rPr>
              <a:t>20 %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04704" y="4599432"/>
            <a:ext cx="1234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33475F"/>
                </a:solidFill>
                <a:latin typeface="Segoe UI"/>
              </a:rPr>
              <a:t>Überlebens-Schwelle je Spezies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623560"/>
            <a:ext cx="111556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6C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742432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3475F"/>
                </a:solidFill>
                <a:latin typeface="Segoe UI"/>
              </a:rPr>
              <a:t>Kein Backpropagation, kein Loss, keine Lernrate – die Evolution selbst ist der Lern-Mechanismus.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09728" cy="1097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4F8ECD"/>
                </a:solidFill>
                <a:latin typeface="Segoe UI"/>
              </a:rPr>
              <a:t>11 · EVOLUTION DES NETZES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E6DB4"/>
                </a:solidFill>
                <a:latin typeface="Georgia"/>
              </a:rPr>
              <a:t>Vom Zufallsnetz zum stabilen Spieler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3112" cy="14630"/>
          </a:xfrm>
          <a:prstGeom prst="rect">
            <a:avLst/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DINO KI  ·  Neuronales Netzwerk spielt Google Dino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F8ECD"/>
                </a:solidFill>
                <a:latin typeface="Segoe UI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5486400" cy="384048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DC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493776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2E6DB4"/>
                </a:solidFill>
                <a:latin typeface="Georgia"/>
              </a:rPr>
              <a:t>NEAT-Besonderheit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33475F"/>
                </a:solidFill>
                <a:latin typeface="Segoe UI"/>
              </a:rPr>
              <a:t>NEAT = NeuroEvolution of Augmenting Topologies. Das Netz verändert nicht nur Gewichte, sondern auch seinen Aufbau.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75F"/>
                </a:solidFill>
                <a:latin typeface="Segoe UI"/>
              </a:rPr>
              <a:t>•  neue Verbindungen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75F"/>
                </a:solidFill>
                <a:latin typeface="Segoe UI"/>
              </a:rPr>
              <a:t>•  neue Neuronen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75F"/>
                </a:solidFill>
                <a:latin typeface="Segoe UI"/>
              </a:rPr>
              <a:t>•  Gewichte werden mutiert (Formel 5)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75F"/>
                </a:solidFill>
                <a:latin typeface="Segoe UI"/>
              </a:rPr>
              <a:t>→ Jedes Individuum besitzt seine eigene Architektur – die besten Strukturen setzen sich durch.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83080"/>
            <a:ext cx="5394960" cy="384048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DC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965960"/>
            <a:ext cx="48463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2E6DB4"/>
                </a:solidFill>
                <a:latin typeface="Georgia"/>
              </a:rPr>
              <a:t>Live im Dashboard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33475F"/>
                </a:solidFill>
                <a:latin typeface="Segoe UI"/>
              </a:rPr>
              <a:t>Das aktuelle beste Netz wird während des Trainings live angezeigt – in Echtzeit, direkt im Spiel.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75F"/>
                </a:solidFill>
                <a:latin typeface="Segoe UI"/>
              </a:rPr>
              <a:t>•  Aktivierungswerte in jedem Knoten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75F"/>
                </a:solidFill>
                <a:latin typeface="Segoe UI"/>
              </a:rPr>
              <a:t>•  Kanten leuchten statt zu blinken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75F"/>
                </a:solidFill>
                <a:latin typeface="Segoe UI"/>
              </a:rPr>
              <a:t>•  Taste F = Vollbild, 16:9 ohne Verzerrung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75F"/>
                </a:solidFill>
                <a:latin typeface="Segoe UI"/>
              </a:rPr>
              <a:t>•  Design: weiß + blau, minimal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897880"/>
            <a:ext cx="2606040" cy="50292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96C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952744"/>
            <a:ext cx="23317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6DB4"/>
                </a:solidFill>
                <a:latin typeface="Segoe UI"/>
              </a:rPr>
              <a:t>GEN 001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629107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90"/>
                </a:solidFill>
                <a:latin typeface="Segoe UI"/>
              </a:rPr>
              <a:t>Zufall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6391" y="5943600"/>
            <a:ext cx="219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4F8ECD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55848" y="5897880"/>
            <a:ext cx="2606040" cy="50292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96C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93008" y="5952744"/>
            <a:ext cx="23317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6DB4"/>
                </a:solidFill>
                <a:latin typeface="Segoe UI"/>
              </a:rPr>
              <a:t>GEN 010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629107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90"/>
                </a:solidFill>
                <a:latin typeface="Segoe UI"/>
              </a:rPr>
              <a:t>erste Sprünge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5943600"/>
            <a:ext cx="219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4F8ECD"/>
                </a:solidFill>
                <a:latin typeface="Segoe U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5897880"/>
            <a:ext cx="2606040" cy="50292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96C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5952744"/>
            <a:ext cx="23317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6DB4"/>
                </a:solidFill>
                <a:latin typeface="Segoe UI"/>
              </a:rPr>
              <a:t>GEN 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14616" y="629107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90"/>
                </a:solidFill>
                <a:latin typeface="Segoe UI"/>
              </a:rPr>
              <a:t>stabil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42248" y="5943600"/>
            <a:ext cx="219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4F8ECD"/>
                </a:solidFill>
                <a:latin typeface="Segoe U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704" y="5897880"/>
            <a:ext cx="2606040" cy="50292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96C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98864" y="5952744"/>
            <a:ext cx="23317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6DB4"/>
                </a:solidFill>
                <a:latin typeface="Segoe UI"/>
              </a:rPr>
              <a:t>GEN 050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67544" y="629107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90"/>
                </a:solidFill>
                <a:latin typeface="Segoe UI"/>
              </a:rPr>
              <a:t>final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09728" cy="1097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4F8ECD"/>
                </a:solidFill>
                <a:latin typeface="Segoe UI"/>
              </a:rPr>
              <a:t>12 · ERGEBNISSE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E6DB4"/>
                </a:solidFill>
                <a:latin typeface="Georgia"/>
              </a:rPr>
              <a:t>Lernfortschritt über die Generationen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3112" cy="14630"/>
          </a:xfrm>
          <a:prstGeom prst="rect">
            <a:avLst/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DINO KI  ·  Neuronales Netzwerk spielt Google Dino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F8ECD"/>
                </a:solidFill>
                <a:latin typeface="Segoe UI"/>
              </a:rPr>
              <a:t>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783080"/>
          <a:ext cx="11155680" cy="29260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54480"/>
                <a:gridCol w="2103120"/>
                <a:gridCol w="1920240"/>
                <a:gridCol w="2011680"/>
                <a:gridCol w="3566160"/>
              </a:tblGrid>
              <a:tr h="58521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Generation</a:t>
                      </a:r>
                    </a:p>
                  </a:txBody>
                  <a:tcPr marL="54864" marR="54864" marT="27432" marB="27432" anchor="ctr"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Beste Fitness</a:t>
                      </a:r>
                    </a:p>
                  </a:txBody>
                  <a:tcPr marL="54864" marR="54864" marT="27432" marB="27432" anchor="ctr"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Ø Fitness</a:t>
                      </a:r>
                    </a:p>
                  </a:txBody>
                  <a:tcPr marL="54864" marR="54864" marT="27432" marB="27432" anchor="ctr"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Beste Punkte</a:t>
                      </a:r>
                    </a:p>
                  </a:txBody>
                  <a:tcPr marL="54864" marR="54864" marT="27432" marB="27432" anchor="ctr"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Bemerkung</a:t>
                      </a:r>
                    </a:p>
                  </a:txBody>
                  <a:tcPr marL="54864" marR="54864" marT="27432" marB="27432" anchor="ctr">
                    <a:solidFill>
                      <a:srgbClr val="2E6DB4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4F8ECD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75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75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75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75F"/>
                          </a:solidFill>
                          <a:latin typeface="Segoe UI"/>
                        </a:rPr>
                        <a:t>erste zufällige Netze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4F8ECD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EAF3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75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AF3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75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AF3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75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AF3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75F"/>
                          </a:solidFill>
                          <a:latin typeface="Segoe UI"/>
                        </a:rPr>
                        <a:t>erste Sprünge</a:t>
                      </a:r>
                    </a:p>
                  </a:txBody>
                  <a:tcPr marL="54864" marR="54864" marT="27432" marB="27432" anchor="ctr">
                    <a:solidFill>
                      <a:srgbClr val="EAF3FC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4F8ECD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75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75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75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75F"/>
                          </a:solidFill>
                          <a:latin typeface="Segoe UI"/>
                        </a:rPr>
                        <a:t>zuverlässiges Überleben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4F8ECD"/>
                          </a:solidFill>
                          <a:latin typeface="Segoe UI"/>
                        </a:rPr>
                        <a:t>50</a:t>
                      </a:r>
                    </a:p>
                  </a:txBody>
                  <a:tcPr marL="54864" marR="54864" marT="27432" marB="27432" anchor="ctr">
                    <a:solidFill>
                      <a:srgbClr val="EAF3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75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AF3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75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AF3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75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AF3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75F"/>
                          </a:solidFill>
                          <a:latin typeface="Segoe UI"/>
                        </a:rPr>
                        <a:t>finale Generation</a:t>
                      </a:r>
                    </a:p>
                  </a:txBody>
                  <a:tcPr marL="54864" marR="54864" marT="27432" marB="27432" anchor="ctr">
                    <a:solidFill>
                      <a:srgbClr val="EAF3F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4892040"/>
            <a:ext cx="5486400" cy="132588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DC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029200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E6DB4"/>
                </a:solidFill>
                <a:latin typeface="Georgia"/>
              </a:rPr>
              <a:t>Training im Überblick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75F"/>
                </a:solidFill>
                <a:latin typeface="Segoe UI"/>
              </a:rPr>
              <a:t>50 Generationen · 50 Netze pro Generation · bis zu 2 500 Netze insgesamt · Fitness-Ziel 1000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892040"/>
            <a:ext cx="5486400" cy="132588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DC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5029200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E6DB4"/>
                </a:solidFill>
                <a:latin typeface="Georgia"/>
              </a:rPr>
              <a:t>Was lernt das Netz?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75F"/>
                </a:solidFill>
                <a:latin typeface="Segoe UI"/>
              </a:rPr>
              <a:t>Hindernisse erkennen (Distanz, Größe, Vogel) · rechtzeitig springen und ducken · Fehler: sehr nahe Hindernisse.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09728" cy="1097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4F8ECD"/>
                </a:solidFill>
                <a:latin typeface="Segoe UI"/>
              </a:rPr>
              <a:t>13 · CODE &amp; TECHNIK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E6DB4"/>
                </a:solidFill>
                <a:latin typeface="Georgia"/>
              </a:rPr>
              <a:t>Python-Projekt, komplett lokal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3112" cy="14630"/>
          </a:xfrm>
          <a:prstGeom prst="rect">
            <a:avLst/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DINO KI  ·  Neuronales Netzwerk spielt Google Dino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F8ECD"/>
                </a:solidFill>
                <a:latin typeface="Segoe U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DC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938528"/>
            <a:ext cx="2286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E6DB4"/>
                </a:solidFill>
                <a:latin typeface="Georgia"/>
              </a:rPr>
              <a:t>pygame-ce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3475F"/>
                </a:solidFill>
                <a:latin typeface="Segoe UI"/>
              </a:rPr>
              <a:t>Spiel-Engine, Fenster,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4700" y="178308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DC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5868" y="1938528"/>
            <a:ext cx="2286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E6DB4"/>
                </a:solidFill>
                <a:latin typeface="Georgia"/>
              </a:rPr>
              <a:t>neat-python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3475F"/>
                </a:solidFill>
                <a:latin typeface="Segoe UI"/>
              </a:rPr>
              <a:t>Evolutionäre Optimierung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78308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DC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938528"/>
            <a:ext cx="2286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E6DB4"/>
                </a:solidFill>
                <a:latin typeface="Georgia"/>
              </a:rPr>
              <a:t>pygame-menu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3475F"/>
                </a:solidFill>
                <a:latin typeface="Segoe UI"/>
              </a:rPr>
              <a:t>Hauptmenü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260" y="178308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DC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9428" y="1938528"/>
            <a:ext cx="2286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E6DB4"/>
                </a:solidFill>
                <a:latin typeface="Georgia"/>
              </a:rPr>
              <a:t>Manim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3475F"/>
                </a:solidFill>
                <a:latin typeface="Segoe UI"/>
              </a:rPr>
              <a:t>Netzwerk-Bild als PNG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2920" y="3429000"/>
          <a:ext cx="11155680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/>
                <a:gridCol w="8778240"/>
              </a:tblGrid>
              <a:tr h="391885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Datei</a:t>
                      </a:r>
                    </a:p>
                  </a:txBody>
                  <a:tcPr marL="54864" marR="54864" marT="27432" marB="27432" anchor="ctr"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Aufgabe</a:t>
                      </a:r>
                    </a:p>
                  </a:txBody>
                  <a:tcPr marL="54864" marR="54864" marT="27432" marB="27432" anchor="ctr">
                    <a:solidFill>
                      <a:srgbClr val="2E6DB4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F8ECD"/>
                          </a:solidFill>
                          <a:latin typeface="Segoe UI"/>
                        </a:rPr>
                        <a:t>main.py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75F"/>
                          </a:solidFill>
                          <a:latin typeface="Segoe UI"/>
                        </a:rPr>
                        <a:t>Startpunkt des Programms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F8ECD"/>
                          </a:solidFill>
                          <a:latin typeface="Segoe UI"/>
                        </a:rPr>
                        <a:t>dino_game.py</a:t>
                      </a:r>
                    </a:p>
                  </a:txBody>
                  <a:tcPr marL="54864" marR="54864" marT="27432" marB="27432" anchor="ctr">
                    <a:solidFill>
                      <a:srgbClr val="EAF3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75F"/>
                          </a:solidFill>
                          <a:latin typeface="Segoe UI"/>
                        </a:rPr>
                        <a:t>Spiel-Engine · Training · Echtzeit-Dashboard</a:t>
                      </a:r>
                    </a:p>
                  </a:txBody>
                  <a:tcPr marL="54864" marR="54864" marT="27432" marB="27432" anchor="ctr">
                    <a:solidFill>
                      <a:srgbClr val="EAF3FC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F8ECD"/>
                          </a:solidFill>
                          <a:latin typeface="Segoe UI"/>
                        </a:rPr>
                        <a:t>manim_render.py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75F"/>
                          </a:solidFill>
                          <a:latin typeface="Segoe UI"/>
                        </a:rPr>
                        <a:t>NEAT-Genom → Netzwerk-PNG · Live-Werte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F8ECD"/>
                          </a:solidFill>
                          <a:latin typeface="Segoe UI"/>
                        </a:rPr>
                        <a:t>dino_net_scene.py</a:t>
                      </a:r>
                    </a:p>
                  </a:txBody>
                  <a:tcPr marL="54864" marR="54864" marT="27432" marB="27432" anchor="ctr">
                    <a:solidFill>
                      <a:srgbClr val="EAF3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75F"/>
                          </a:solidFill>
                          <a:latin typeface="Segoe UI"/>
                        </a:rPr>
                        <a:t>Manim-Szene (weiß/blau)</a:t>
                      </a:r>
                    </a:p>
                  </a:txBody>
                  <a:tcPr marL="54864" marR="54864" marT="27432" marB="27432" anchor="ctr">
                    <a:solidFill>
                      <a:srgbClr val="EAF3FC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F8ECD"/>
                          </a:solidFill>
                          <a:latin typeface="Segoe UI"/>
                        </a:rPr>
                        <a:t>neat-config.txt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75F"/>
                          </a:solidFill>
                          <a:latin typeface="Segoe UI"/>
                        </a:rPr>
                        <a:t>Alle NEAT-Hyperparameter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F8ECD"/>
                          </a:solidFill>
                          <a:latin typeface="Segoe UI"/>
                        </a:rPr>
                        <a:t>cpp_dino/</a:t>
                      </a:r>
                    </a:p>
                  </a:txBody>
                  <a:tcPr marL="54864" marR="54864" marT="27432" marB="27432" anchor="ctr">
                    <a:solidFill>
                      <a:srgbClr val="EAF3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75F"/>
                          </a:solidFill>
                          <a:latin typeface="Segoe UI"/>
                        </a:rPr>
                        <a:t>C++-Portierung des Spiels</a:t>
                      </a:r>
                    </a:p>
                  </a:txBody>
                  <a:tcPr marL="54864" marR="54864" marT="27432" marB="27432" anchor="ctr">
                    <a:solidFill>
                      <a:srgbClr val="EAF3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28016" cy="12801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10312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4200" b="1" i="0">
                <a:solidFill>
                  <a:srgbClr val="2E6DB4"/>
                </a:solidFill>
                <a:latin typeface="Georgia"/>
              </a:rPr>
              <a:t>Danke für Ihre Aufmerksamkeit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33475F"/>
                </a:solidFill>
                <a:latin typeface="Georgia"/>
              </a:rPr>
              <a:t>Fragen?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41448" y="4206240"/>
            <a:ext cx="7315200" cy="100584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96C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eberbli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4411582"/>
            <a:ext cx="6949440" cy="6042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41448" y="525780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6B7A90"/>
                </a:solidFill>
                <a:latin typeface="Segoe UI"/>
              </a:rPr>
              <a:t>Die ganze KI in einer Zeile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035040"/>
            <a:ext cx="11183112" cy="14630"/>
          </a:xfrm>
          <a:prstGeom prst="rect">
            <a:avLst/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172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B7A90"/>
                </a:solidFill>
                <a:latin typeface="Segoe UI"/>
              </a:rPr>
              <a:t>DINO KI · Neuroevolution (NEAT) · Python 3.14 · Pygame · Manim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